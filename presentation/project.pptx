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1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E02CC-0135-D223-910B-90352414B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0207B2-5D59-F8D5-1194-891DCB9CE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8536A-DD23-F35E-01CF-3B2CD34D9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7357C-0012-362F-BBE2-7754B9A85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58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Markets Analytics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 Crashes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Volatility Targeting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27889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F5B66"/>
                </a:solidFill>
              </a:rPr>
              <a:t>Does risk scaling protect momentum without the dangers of leverage?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32004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18096"/>
                </a:solidFill>
              </a:rPr>
              <a:t>Evidence from the S&amp;P 500 and STOXX Europe 600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3749040"/>
            <a:ext cx="3840480" cy="0"/>
          </a:xfrm>
          <a:prstGeom prst="line">
            <a:avLst/>
          </a:prstGeom>
          <a:noFill/>
          <a:ln w="25400">
            <a:solidFill>
              <a:srgbClr val="2F6D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13232" y="57150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F5B66"/>
                </a:solidFill>
              </a:rPr>
              <a:t>Final Project · Financial Markets Analytics · A.Y. 2025–2026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49640" y="1920240"/>
            <a:ext cx="2377440" cy="0"/>
          </a:xfrm>
          <a:prstGeom prst="line">
            <a:avLst/>
          </a:prstGeom>
          <a:noFill/>
          <a:ln w="38100">
            <a:solidFill>
              <a:srgbClr val="2F6DA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098280" y="2743200"/>
            <a:ext cx="2011680" cy="0"/>
          </a:xfrm>
          <a:prstGeom prst="line">
            <a:avLst/>
          </a:prstGeom>
          <a:noFill/>
          <a:ln w="38100">
            <a:solidFill>
              <a:srgbClr val="D57A32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9555480" y="3566160"/>
            <a:ext cx="1645920" cy="0"/>
          </a:xfrm>
          <a:prstGeom prst="line">
            <a:avLst/>
          </a:prstGeom>
          <a:noFill/>
          <a:ln w="38100">
            <a:solidFill>
              <a:srgbClr val="4C9F7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F1A37B6-E3D4-3272-7812-CB91B60AC1DE}"/>
              </a:ext>
            </a:extLst>
          </p:cNvPr>
          <p:cNvSpPr/>
          <p:nvPr/>
        </p:nvSpPr>
        <p:spPr>
          <a:xfrm>
            <a:off x="685800" y="4895304"/>
            <a:ext cx="3614928" cy="594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5B66"/>
                </a:solidFill>
              </a:rPr>
              <a:t>Davide Francesco Caramia (882108)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F5B66"/>
                </a:solidFill>
              </a:rPr>
              <a:t>d.caramia@campus.unimib.it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design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MOTIVATION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volatility targeting reduce the crash risk of cross-sectional momentum — and when can leverage make sudden momentum crashes worse?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40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DA3"/>
                </a:solidFill>
              </a:rPr>
              <a:t>1. 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F5B66"/>
                </a:solidFill>
              </a:rPr>
              <a:t>Build a standard 12–1 cross-sectional momentum strategy.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5146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1772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57A32"/>
                </a:solidFill>
              </a:rPr>
              <a:t>2. Risk scaling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F5B66"/>
                </a:solidFill>
              </a:rPr>
              <a:t>Apply volatility targeting without changing the momentum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251460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321040" y="26334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9F70"/>
                </a:solidFill>
              </a:rPr>
              <a:t>3. Crash mechanism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4F5B66"/>
                </a:solidFill>
              </a:rPr>
              <a:t>Study whether high past volatility protects and low past volatility creates leverage risk.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A3"/>
                </a:solidFill>
              </a:rPr>
              <a:t>Main hypothesis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956048"/>
            <a:ext cx="103327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Volatility targeting improves momentum mainly by reducing drawdowns and volatility drag. However, Standard VT can amplify sudden crashes when it enters them with leveraged exposure.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BACKTEST SETUP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portfolio construction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1828800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2514600" y="1280160"/>
            <a:ext cx="1828800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500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4343400" y="1280160"/>
            <a:ext cx="1828800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600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panel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336 months · 1,355 securities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4343400" y="17373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 months · 1,255 securities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85800" y="219456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514600" y="219456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1990 – Nov 2018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4343400" y="2194560"/>
            <a:ext cx="18288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2002 – Nov 2018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active names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2514600" y="26517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~501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4343400" y="2651760"/>
            <a:ext cx="1828800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~600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629400" y="1335024"/>
            <a:ext cx="4480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Investable universe is defined with historical index weights, not just price availability.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1965960"/>
            <a:ext cx="44805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4F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reduces survivorship and look-ahead problems: a stock is considered eligible only when it was actually part of the index at the relevant time.</a:t>
            </a:r>
            <a:endParaRPr lang="en-US" sz="1380" dirty="0"/>
          </a:p>
        </p:txBody>
      </p:sp>
      <p:sp>
        <p:nvSpPr>
          <p:cNvPr id="21" name="Shape 19"/>
          <p:cNvSpPr/>
          <p:nvPr/>
        </p:nvSpPr>
        <p:spPr>
          <a:xfrm>
            <a:off x="822960" y="3822192"/>
            <a:ext cx="1042416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F6D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96112" y="42062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Historical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prices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505456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5B6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07792" y="4069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4C9F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2980944" y="42062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Weights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&amp; membership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590288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5B66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92624" y="4069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57A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065776" y="42062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12–1 momentum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signal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675120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5B66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77456" y="4069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B84A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50608" y="42062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Top 10% long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Bottom 10% short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759952" y="4224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5B66"/>
                </a:solidFill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62288" y="40690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235440" y="4206240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Long–short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D2733"/>
                </a:solidFill>
              </a:rPr>
              <a:t>returns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822960" y="5138928"/>
            <a:ext cx="10607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rebalancing · top/bottom 10% · equal weights · long-short portfolio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5E9E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7324D"/>
                </a:solidFill>
                <a:latin typeface="Aptos Display"/>
              </a:defRPr>
            </a:pPr>
            <a:r>
              <a:t>Preparing data to avoid look-ahead and survivorship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72768"/>
            <a:ext cx="4251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Price availability alone is not enough to define the investable universe.</a:t>
            </a:r>
          </a:p>
          <a:p>
            <a:pPr>
              <a:defRPr sz="1350">
                <a:solidFill>
                  <a:srgbClr val="52606F"/>
                </a:solidFill>
                <a:latin typeface="Aptos"/>
              </a:defRPr>
            </a:pPr>
            <a:r>
              <a:t>We combine prices with historical index weights and lag membership by one month, so the strategy uses only information available at the decision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520440"/>
            <a:ext cx="4251960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82880" rtlCol="0" anchor="ctr"/>
          <a:lstStyle/>
          <a:p>
            <a:pPr algn="ctr">
              <a:defRPr sz="1100" b="1">
                <a:solidFill>
                  <a:srgbClr val="1E5E9E"/>
                </a:solidFill>
                <a:latin typeface="Aptos"/>
              </a:defRPr>
            </a:pPr>
            <a:r>
              <a:t>Active constituent at time t</a:t>
            </a:r>
          </a:p>
          <a:p>
            <a:pPr algn="ctr">
              <a:defRPr sz="2400" b="1">
                <a:solidFill>
                  <a:srgbClr val="17324D"/>
                </a:solidFill>
                <a:latin typeface="Aptos Display"/>
              </a:defRPr>
            </a:pPr>
            <a:r>
              <a:t>wᵢ,ₜ &gt; 0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1609344"/>
            <a:ext cx="438912" cy="438912"/>
          </a:xfrm>
          <a:prstGeom prst="ellipse">
            <a:avLst/>
          </a:prstGeom>
          <a:solidFill>
            <a:srgbClr val="1E5E9E"/>
          </a:solidFill>
          <a:ln>
            <a:solidFill>
              <a:srgbClr val="1E5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912" y="1536192"/>
            <a:ext cx="4818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Load raw Excel sheets</a:t>
            </a:r>
          </a:p>
          <a:p>
            <a:pPr>
              <a:defRPr sz="1150">
                <a:solidFill>
                  <a:srgbClr val="52606F"/>
                </a:solidFill>
                <a:latin typeface="Aptos"/>
              </a:defRPr>
            </a:pPr>
            <a:r>
              <a:t>Price panel + Peso weights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51576" y="2066544"/>
            <a:ext cx="0" cy="219456"/>
          </a:xfrm>
          <a:prstGeom prst="line">
            <a:avLst/>
          </a:prstGeom>
          <a:ln w="1778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532120" y="2404872"/>
            <a:ext cx="438912" cy="438912"/>
          </a:xfrm>
          <a:prstGeom prst="ellipse">
            <a:avLst/>
          </a:prstGeom>
          <a:solidFill>
            <a:srgbClr val="49A46C"/>
          </a:solidFill>
          <a:ln>
            <a:solidFill>
              <a:srgbClr val="49A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2331720"/>
            <a:ext cx="4818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Clean and align identifiers</a:t>
            </a:r>
          </a:p>
          <a:p>
            <a:pPr>
              <a:defRPr sz="1150">
                <a:solidFill>
                  <a:srgbClr val="52606F"/>
                </a:solidFill>
                <a:latin typeface="Aptos"/>
              </a:defRPr>
            </a:pPr>
            <a:r>
              <a:t>dates, tickers, numeric values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51576" y="2862072"/>
            <a:ext cx="0" cy="219456"/>
          </a:xfrm>
          <a:prstGeom prst="line">
            <a:avLst/>
          </a:prstGeom>
          <a:ln w="1778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532120" y="3200400"/>
            <a:ext cx="438912" cy="438912"/>
          </a:xfrm>
          <a:prstGeom prst="ellipse">
            <a:avLst/>
          </a:prstGeom>
          <a:solidFill>
            <a:srgbClr val="E77024"/>
          </a:solidFill>
          <a:ln>
            <a:solidFill>
              <a:srgbClr val="E7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3127248"/>
            <a:ext cx="4818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Reconstruct active universe</a:t>
            </a:r>
          </a:p>
          <a:p>
            <a:pPr>
              <a:defRPr sz="1150">
                <a:solidFill>
                  <a:srgbClr val="52606F"/>
                </a:solidFill>
                <a:latin typeface="Aptos"/>
              </a:defRPr>
            </a:pPr>
            <a:r>
              <a:t>historical membership, not price availability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51576" y="3657600"/>
            <a:ext cx="0" cy="219456"/>
          </a:xfrm>
          <a:prstGeom prst="line">
            <a:avLst/>
          </a:prstGeom>
          <a:ln w="1778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532120" y="3995928"/>
            <a:ext cx="438912" cy="438912"/>
          </a:xfrm>
          <a:prstGeom prst="ellipse">
            <a:avLst/>
          </a:prstGeom>
          <a:solidFill>
            <a:srgbClr val="C24549"/>
          </a:solidFill>
          <a:ln>
            <a:solidFill>
              <a:srgbClr val="C24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3922776"/>
            <a:ext cx="4818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Lag information by one month</a:t>
            </a:r>
          </a:p>
          <a:p>
            <a:pPr>
              <a:defRPr sz="1150">
                <a:solidFill>
                  <a:srgbClr val="52606F"/>
                </a:solidFill>
                <a:latin typeface="Aptos"/>
              </a:defRPr>
            </a:pPr>
            <a:r>
              <a:t>decision at t uses membership from t−1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1576" y="4453128"/>
            <a:ext cx="0" cy="219456"/>
          </a:xfrm>
          <a:prstGeom prst="line">
            <a:avLst/>
          </a:prstGeom>
          <a:ln w="1778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532120" y="4791456"/>
            <a:ext cx="438912" cy="438912"/>
          </a:xfrm>
          <a:prstGeom prst="ellipse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4718304"/>
            <a:ext cx="4818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Apply eligibility filter</a:t>
            </a:r>
          </a:p>
          <a:p>
            <a:pPr>
              <a:defRPr sz="1150">
                <a:solidFill>
                  <a:srgbClr val="52606F"/>
                </a:solidFill>
                <a:latin typeface="Aptos"/>
              </a:defRPr>
            </a:pPr>
            <a:r>
              <a:t>active through the 12–1 lookback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" y="5715000"/>
            <a:ext cx="10954512" cy="0"/>
          </a:xfrm>
          <a:prstGeom prst="line">
            <a:avLst/>
          </a:prstGeom>
          <a:ln w="127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5916168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24D"/>
                </a:solidFill>
                <a:latin typeface="Aptos"/>
              </a:defRPr>
            </a:pPr>
            <a:r>
              <a:t>Output: returns are computed only for securities investable at the decision date.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537960"/>
            <a:ext cx="11338560" cy="0"/>
          </a:xfrm>
          <a:prstGeom prst="line">
            <a:avLst/>
          </a:prstGeom>
          <a:ln w="12700">
            <a:solidFill>
              <a:srgbClr val="D3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" y="6629400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07C8B"/>
                </a:solidFill>
                <a:latin typeface="Aptos"/>
              </a:defRPr>
            </a:pPr>
            <a:r>
              <a:t>Data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risk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Plain momentum has severe crash risk</a:t>
            </a:r>
            <a:endParaRPr lang="en-US" sz="3000" dirty="0"/>
          </a:p>
        </p:txBody>
      </p:sp>
      <p:pic>
        <p:nvPicPr>
          <p:cNvPr id="7" name="Image 0" descr="/mnt/data/nb_figs/cell_03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9954"/>
            <a:ext cx="6400800" cy="34665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066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A4A"/>
                </a:solidFill>
              </a:rPr>
              <a:t>−82.47%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0664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S&amp;P 500 max drawdown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6926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A4A"/>
                </a:solidFill>
              </a:rPr>
              <a:t>−75.36%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92640" y="1856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STOXX 600 max drawdown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0664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57A32"/>
                </a:solidFill>
              </a:rPr>
              <a:t>−1.53%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0664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S&amp;P 500 plain CAGR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69264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9F70"/>
                </a:solidFill>
              </a:rPr>
              <a:t>6.23%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69264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STOXX 600 plain CAGR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52360" y="4160520"/>
            <a:ext cx="38862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10000"/>
          </a:bodyPr>
          <a:lstStyle/>
          <a:p>
            <a:r>
              <a:rPr lang="en-US" sz="15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(plain momentum strategy) is not simply volatile: it can lose most of its value from a previous peak. This motivates a risk-management extension.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25A96-FEA4-14B2-1B3E-B7386F5E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F069CB-B209-8F96-4A61-0C7C841767EF}"/>
              </a:ext>
            </a:extLst>
          </p:cNvPr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230FF6-E24D-9B8F-9AD1-5DF4B26904FA}"/>
              </a:ext>
            </a:extLst>
          </p:cNvPr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scaling</a:t>
            </a:r>
            <a:endParaRPr lang="en-US" sz="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0CE8E8-C9FF-D09E-26BC-ED6CEEAC3CBA}"/>
              </a:ext>
            </a:extLst>
          </p:cNvPr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FRAMEWORK</a:t>
            </a:r>
            <a:endParaRPr lang="en-US" sz="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7F5290-C404-5649-3807-D9E2983EAD84}"/>
              </a:ext>
            </a:extLst>
          </p:cNvPr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Volatility targeting changes exposure, not the signal</a:t>
            </a: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57ED31-BA5A-1C4E-9982-9690182CE5BC}"/>
              </a:ext>
            </a:extLst>
          </p:cNvPr>
          <p:cNvSpPr/>
          <p:nvPr/>
        </p:nvSpPr>
        <p:spPr>
          <a:xfrm>
            <a:off x="685800" y="1170432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winner and loser portfolios are kept. Only the overall exposure multiplier changes through time.</a:t>
            </a:r>
            <a:endParaRPr lang="en-US" sz="16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D45995F-2D15-9952-3AFC-46A6398C14F4}"/>
              </a:ext>
            </a:extLst>
          </p:cNvPr>
          <p:cNvSpPr/>
          <p:nvPr/>
        </p:nvSpPr>
        <p:spPr>
          <a:xfrm>
            <a:off x="685800" y="3273552"/>
            <a:ext cx="2103120" cy="41148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Specification</a:t>
            </a:r>
            <a:endParaRPr lang="en-US" sz="1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DD35515-4898-E65E-0024-ABE53AAAA0E6}"/>
              </a:ext>
            </a:extLst>
          </p:cNvPr>
          <p:cNvSpPr/>
          <p:nvPr/>
        </p:nvSpPr>
        <p:spPr>
          <a:xfrm>
            <a:off x="2788920" y="3273552"/>
            <a:ext cx="2103120" cy="41148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87A6444-3E92-1668-4665-D76F88380014}"/>
              </a:ext>
            </a:extLst>
          </p:cNvPr>
          <p:cNvSpPr/>
          <p:nvPr/>
        </p:nvSpPr>
        <p:spPr>
          <a:xfrm>
            <a:off x="4892040" y="3273552"/>
            <a:ext cx="2103120" cy="41148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FB54DBD-501A-2F2A-8FC0-F42042E5CB60}"/>
              </a:ext>
            </a:extLst>
          </p:cNvPr>
          <p:cNvSpPr/>
          <p:nvPr/>
        </p:nvSpPr>
        <p:spPr>
          <a:xfrm>
            <a:off x="685800" y="3685032"/>
            <a:ext cx="2103120" cy="41148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VT</a:t>
            </a: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94A4CB8-10C2-C718-A438-B4494ACBD749}"/>
              </a:ext>
            </a:extLst>
          </p:cNvPr>
          <p:cNvSpPr/>
          <p:nvPr/>
        </p:nvSpPr>
        <p:spPr>
          <a:xfrm>
            <a:off x="2788920" y="3685032"/>
            <a:ext cx="2103120" cy="41148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2.0×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E93DAAB-2EB7-CA05-A59C-BE541F52FE6A}"/>
              </a:ext>
            </a:extLst>
          </p:cNvPr>
          <p:cNvSpPr/>
          <p:nvPr/>
        </p:nvSpPr>
        <p:spPr>
          <a:xfrm>
            <a:off x="4892040" y="3685032"/>
            <a:ext cx="2103120" cy="41148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reduce or increase exposure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FFA4B05-5C8F-37E3-8DBD-0B724398F295}"/>
              </a:ext>
            </a:extLst>
          </p:cNvPr>
          <p:cNvSpPr/>
          <p:nvPr/>
        </p:nvSpPr>
        <p:spPr>
          <a:xfrm>
            <a:off x="685800" y="4096512"/>
            <a:ext cx="21031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No-Leverage VT</a:t>
            </a:r>
            <a:endParaRPr lang="en-US" sz="12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1E2F73B-3D0F-B0D5-407C-B9A8FA38840E}"/>
              </a:ext>
            </a:extLst>
          </p:cNvPr>
          <p:cNvSpPr/>
          <p:nvPr/>
        </p:nvSpPr>
        <p:spPr>
          <a:xfrm>
            <a:off x="2788920" y="4096512"/>
            <a:ext cx="21031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1.0×</a:t>
            </a:r>
            <a:endParaRPr lang="en-US" sz="12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79D1DBD1-8179-ABEB-96B4-034036F561C1}"/>
              </a:ext>
            </a:extLst>
          </p:cNvPr>
          <p:cNvSpPr/>
          <p:nvPr/>
        </p:nvSpPr>
        <p:spPr>
          <a:xfrm>
            <a:off x="4892040" y="4096512"/>
            <a:ext cx="210312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only reduce or maintain exposure</a:t>
            </a:r>
            <a:endParaRPr lang="en-US" sz="1200" dirty="0"/>
          </a:p>
        </p:txBody>
      </p:sp>
      <p:pic>
        <p:nvPicPr>
          <p:cNvPr id="19" name="Image 2" descr="/mnt/data/nb_figs/cell_062_0.png">
            <a:extLst>
              <a:ext uri="{FF2B5EF4-FFF2-40B4-BE49-F238E27FC236}">
                <a16:creationId xmlns:a16="http://schemas.microsoft.com/office/drawing/2014/main" id="{C6917B9B-136E-3396-B00C-370F35FDA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11095"/>
            <a:ext cx="4343400" cy="2001371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3D5751CE-E879-B5DC-67DD-7D0004E0E67D}"/>
              </a:ext>
            </a:extLst>
          </p:cNvPr>
          <p:cNvSpPr/>
          <p:nvPr/>
        </p:nvSpPr>
        <p:spPr>
          <a:xfrm>
            <a:off x="7498080" y="4617720"/>
            <a:ext cx="3840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one-month lag is essential: exposure in month t uses volatility known up to t−1.</a:t>
            </a:r>
            <a:endParaRPr 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9493A0F9-FF08-B897-7DEB-CC4EF053E49E}"/>
                  </a:ext>
                </a:extLst>
              </p:cNvPr>
              <p:cNvSpPr txBox="1"/>
              <p:nvPr/>
            </p:nvSpPr>
            <p:spPr>
              <a:xfrm>
                <a:off x="685800" y="1746504"/>
                <a:ext cx="2864796" cy="1290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3600" i="1" smtClean="0">
                          <a:latin typeface="Cambria Math" panose="02040503050406030204" pitchFamily="18" charset="0"/>
                        </a:rPr>
                        <m:t>𝐶𝑡</m:t>
                      </m:r>
                      <m:r>
                        <a:rPr lang="it-IT" sz="360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it-IT" sz="3600" i="1"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it-IT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it-IT" sz="3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36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sz="3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it-IT" sz="3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9493A0F9-FF08-B897-7DEB-CC4EF053E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746504"/>
                <a:ext cx="2864796" cy="12908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A6C5DEB5-934F-A6BF-E408-E124F73426D4}"/>
                  </a:ext>
                </a:extLst>
              </p:cNvPr>
              <p:cNvSpPr txBox="1"/>
              <p:nvPr/>
            </p:nvSpPr>
            <p:spPr>
              <a:xfrm>
                <a:off x="3824915" y="2057199"/>
                <a:ext cx="3170245" cy="668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𝑉𝑇</m:t>
                          </m:r>
                        </m:sup>
                      </m:sSubSup>
                      <m:r>
                        <a:rPr lang="it-IT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Sup>
                        <m:sSubSupPr>
                          <m:ctrlPr>
                            <a:rPr lang="it-IT" sz="3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3600" b="0" i="1" smtClean="0">
                              <a:latin typeface="Cambria Math" panose="02040503050406030204" pitchFamily="18" charset="0"/>
                            </a:rPr>
                            <m:t>𝑀𝑂𝑀</m:t>
                          </m:r>
                        </m:sup>
                      </m:sSubSup>
                    </m:oMath>
                  </m:oMathPara>
                </a14:m>
                <a:endParaRPr lang="it-IT" sz="3600" i="1" dirty="0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A6C5DEB5-934F-A6BF-E408-E124F7342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15" y="2057199"/>
                <a:ext cx="3170245" cy="6686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36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S&amp;P 500: risk improves, but leverage creates a tail event</a:t>
            </a:r>
            <a:endParaRPr lang="en-US" sz="3000" dirty="0"/>
          </a:p>
        </p:txBody>
      </p:sp>
      <p:pic>
        <p:nvPicPr>
          <p:cNvPr id="7" name="Image 0" descr="/mnt/data/nb_figs/cell_07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8886"/>
            <a:ext cx="5715000" cy="30920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3761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CAGR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2143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90525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8907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0728960" y="1508760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1M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5379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3761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−1.53%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143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28.79%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0525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98907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−82.47%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0728960" y="198882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−47.30%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379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VT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3761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1.27%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82143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18.79%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90525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98907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−65.31%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10728960" y="2468880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−58.62%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5379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No-Leverage VT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73761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1.25%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2143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15.81%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90525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0.17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98907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−54.36%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10728960" y="2948940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−45.56%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960120" y="4764024"/>
            <a:ext cx="51358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buNone/>
            </a:pPr>
            <a:r>
              <a:rPr lang="en-US" sz="152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 lowers volatility and drawdowns. However, Standard VT has the worst single month because leverage amplified a sudden crash.</a:t>
            </a:r>
            <a:endParaRPr lang="en-US" sz="1520" dirty="0"/>
          </a:p>
        </p:txBody>
      </p:sp>
      <p:sp>
        <p:nvSpPr>
          <p:cNvPr id="33" name="Text 30"/>
          <p:cNvSpPr/>
          <p:nvPr/>
        </p:nvSpPr>
        <p:spPr>
          <a:xfrm>
            <a:off x="7406640" y="4800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A4A"/>
                </a:solidFill>
              </a:rPr>
              <a:t>−58.62%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406640" y="5239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Standard VT worst month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STOXX 600: volatility targeting is strongly effective</a:t>
            </a:r>
            <a:endParaRPr lang="en-US" sz="3000" dirty="0"/>
          </a:p>
        </p:txBody>
      </p:sp>
      <p:pic>
        <p:nvPicPr>
          <p:cNvPr id="7" name="Image 0" descr="/mnt/data/nb_figs/cell_07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3441"/>
            <a:ext cx="5715000" cy="31229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73761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CAGR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2143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Vol.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90525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8907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DD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0728960" y="1499377"/>
            <a:ext cx="838200" cy="48006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1M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5379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73761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6.23%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143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23.92%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0525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0.39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98907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−75.36%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10728960" y="197943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−45.67%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65379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VT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3761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8.47%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82143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14.00%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90525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98907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−26.66%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10728960" y="2459497"/>
            <a:ext cx="838200" cy="48006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−16.40%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5379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No-Leverage VT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73761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8.06%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2143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12.41%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90525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98907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−26.66%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10728960" y="2939557"/>
            <a:ext cx="838200" cy="48006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−16.40%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854088" y="4828032"/>
            <a:ext cx="5241912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just">
              <a:buNone/>
            </a:pPr>
            <a:r>
              <a:rPr lang="en-US" sz="152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Europe, risk scaling improves both compound growth and risk-adjusted performance. The no-leverage version is the most defensive by volatility and Sharpe.</a:t>
            </a:r>
            <a:endParaRPr lang="en-US" sz="1520" dirty="0"/>
          </a:p>
        </p:txBody>
      </p:sp>
      <p:sp>
        <p:nvSpPr>
          <p:cNvPr id="33" name="Text 30"/>
          <p:cNvSpPr/>
          <p:nvPr/>
        </p:nvSpPr>
        <p:spPr>
          <a:xfrm>
            <a:off x="7543800" y="4846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9F70"/>
                </a:solidFill>
              </a:rPr>
              <a:t>−26.66%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7543800" y="5285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VT max drawdown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 anatomy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MECHANISM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VT protects vs when leverage hurts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10241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F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crash analysis compares the same plain-momentum crash months across all strategies.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500 episode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9174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vol.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0362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VT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715500" y="1828800"/>
            <a:ext cx="1805940" cy="47244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2009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9174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47.43%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0.21×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0362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−47.30%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0956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−9.97%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15500" y="2301240"/>
            <a:ext cx="1805940" cy="47244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already visible → exposure reduced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 2001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9174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7.77%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1.29×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0362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−45.56%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0956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−58.62%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15500" y="2773680"/>
            <a:ext cx="1805940" cy="47244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Calm past → leverage amplifies crash</a:t>
            </a:r>
            <a:endParaRPr lang="en-US" sz="1150" dirty="0"/>
          </a:p>
        </p:txBody>
      </p:sp>
      <p:pic>
        <p:nvPicPr>
          <p:cNvPr id="26" name="Image 0" descr="/mnt/data/nb_figs/cell_08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01" y="3703320"/>
            <a:ext cx="4572000" cy="2401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37960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F6D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37960" y="4069080"/>
            <a:ext cx="45720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n-US" sz="165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Volatility targeting is backward-looking. It protects when risk has already risen, but can be dangerous when low past volatility justifies leverage before an unexpected crash.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 anatomy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ECONOMIC SOURCE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Momentum crashes are mostly loser rebounds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Momentum return = winners − losers. If past losers rebound sharply, the short leg loses heavily.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874520"/>
            <a:ext cx="374904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A4A"/>
                </a:solidFill>
              </a:rPr>
              <a:t>9 / 10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06440" y="2221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S&amp;P worst months dominated by loser rebounds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73252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4A4A"/>
                </a:solidFill>
              </a:rPr>
              <a:t>10 / 10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732520" y="2221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F5B66"/>
                </a:solidFill>
              </a:rPr>
              <a:t>STOXX worst months dominated by loser rebounds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77240" y="3246120"/>
            <a:ext cx="213055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07792" y="3246120"/>
            <a:ext cx="213055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38344" y="3246120"/>
            <a:ext cx="213055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68896" y="3246120"/>
            <a:ext cx="213055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momentum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99448" y="3246120"/>
            <a:ext cx="213055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" y="3749040"/>
            <a:ext cx="213055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Apr 2009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907792" y="3749040"/>
            <a:ext cx="213055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+0.86%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38344" y="3749040"/>
            <a:ext cx="213055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+48.17%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68896" y="3749040"/>
            <a:ext cx="213055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−47.30%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299448" y="3749040"/>
            <a:ext cx="213055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Winners did not collapse; losers exploded upward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77240" y="4251960"/>
            <a:ext cx="213055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Apr 2009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907792" y="4251960"/>
            <a:ext cx="213055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+3.24%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38344" y="4251960"/>
            <a:ext cx="213055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+48.91%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68896" y="4251960"/>
            <a:ext cx="213055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−45.67%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299448" y="4251960"/>
            <a:ext cx="213055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Crash driven almost entirely by short leg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changes the interpretation: the main tail risk is often not weak winners, but violent recoveries of the stocks held short.</a:t>
            </a:r>
            <a:endParaRPr lang="en-US" sz="15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Robustness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PARAMETER SENSITIVITY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Robustness: 12-month window is more stable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106984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4F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test volatility windows of 3, 6 and 12 months and targets of 8%, 10% and 12%. The goal is not ex-post optimization, but qualitative stability.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167128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Standard VT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2852928" y="1965960"/>
            <a:ext cx="2167128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020056" y="1965960"/>
            <a:ext cx="2167128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DD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187184" y="1965960"/>
            <a:ext cx="2167128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1M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354312" y="1965960"/>
            <a:ext cx="2167128" cy="45720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 / 12%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852928" y="24231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5020056" y="24231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−84.28%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7187184" y="24231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−76.60%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9354312" y="24231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window + high target creates tail risk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85800" y="2880360"/>
            <a:ext cx="2167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6m / 10%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852928" y="2880360"/>
            <a:ext cx="2167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5020056" y="2880360"/>
            <a:ext cx="2167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−65.31%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187184" y="2880360"/>
            <a:ext cx="2167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−58.62%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9354312" y="2880360"/>
            <a:ext cx="21671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85800" y="33375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12m / 10%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2852928" y="33375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0.30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020056" y="33375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−33.71%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7187184" y="33375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−12.62%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9354312" y="3337560"/>
            <a:ext cx="2167128" cy="45720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smoother volatility estimate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77724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F6D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709160"/>
            <a:ext cx="103327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12-month window produces smoother risk estimates and smaller drawdowns in this sample. We still keep 6m/10% as the pre-defined baseline to avoid choosing parameters after seeing the results.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PRACTICAL RELEVANCE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Costs and benchmark context matter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105156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4F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costs reduce compound performance, especially when the strategy trades a large notional every month.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1337310" cy="402336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CAGR after costs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2023110" y="1691640"/>
            <a:ext cx="1337310" cy="402336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bps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3360420" y="1691640"/>
            <a:ext cx="1337310" cy="402336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bps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4697730" y="1691640"/>
            <a:ext cx="1337310" cy="402336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bps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85800" y="2093976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Standard VT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2023110" y="2093976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1.27%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3360420" y="2093976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0.09%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4697730" y="2093976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−1.08%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85800" y="2496312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No-Lev VT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2023110" y="2496312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1.25%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3360420" y="2496312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0.29%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4697730" y="2496312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−0.67%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85800" y="2898648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Standard VT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2023110" y="2898648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8.47%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3360420" y="2898648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7.08%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4697730" y="2898648"/>
            <a:ext cx="1337310" cy="402336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5.71%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685800" y="3300984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No-Lev VT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2023110" y="3300984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8.06%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3360420" y="3300984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6.92%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4697730" y="3300984"/>
            <a:ext cx="13373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5.80%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355080" y="1691640"/>
            <a:ext cx="103327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7388352" y="1691640"/>
            <a:ext cx="103327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CAGR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8421624" y="1691640"/>
            <a:ext cx="103327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Vol.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9454896" y="1691640"/>
            <a:ext cx="103327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10488168" y="1691640"/>
            <a:ext cx="1033272" cy="502920"/>
          </a:xfrm>
          <a:prstGeom prst="rect">
            <a:avLst/>
          </a:prstGeom>
          <a:solidFill>
            <a:srgbClr val="16324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DD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6355080" y="219456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 500 Index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7388352" y="219456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7.41%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8421624" y="219456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13.98%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9454896" y="219456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10488168" y="219456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−52.56%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6355080" y="2697480"/>
            <a:ext cx="103327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600 Index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7388352" y="2697480"/>
            <a:ext cx="103327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2.86%</a:t>
            </a:r>
            <a:endParaRPr lang="en-US" sz="1130" dirty="0"/>
          </a:p>
        </p:txBody>
      </p:sp>
      <p:sp>
        <p:nvSpPr>
          <p:cNvPr id="40" name="Text 38"/>
          <p:cNvSpPr/>
          <p:nvPr/>
        </p:nvSpPr>
        <p:spPr>
          <a:xfrm>
            <a:off x="8421624" y="2697480"/>
            <a:ext cx="103327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13.69%</a:t>
            </a:r>
            <a:endParaRPr lang="en-US" sz="1130" dirty="0"/>
          </a:p>
        </p:txBody>
      </p:sp>
      <p:sp>
        <p:nvSpPr>
          <p:cNvPr id="41" name="Text 39"/>
          <p:cNvSpPr/>
          <p:nvPr/>
        </p:nvSpPr>
        <p:spPr>
          <a:xfrm>
            <a:off x="9454896" y="2697480"/>
            <a:ext cx="103327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0.28</a:t>
            </a:r>
            <a:endParaRPr lang="en-US" sz="1130" dirty="0"/>
          </a:p>
        </p:txBody>
      </p:sp>
      <p:sp>
        <p:nvSpPr>
          <p:cNvPr id="42" name="Text 40"/>
          <p:cNvSpPr/>
          <p:nvPr/>
        </p:nvSpPr>
        <p:spPr>
          <a:xfrm>
            <a:off x="10488168" y="2697480"/>
            <a:ext cx="1033272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−56.41%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6355080" y="320040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STOXX VT range</a:t>
            </a:r>
            <a:endParaRPr lang="en-US" sz="1130" dirty="0"/>
          </a:p>
        </p:txBody>
      </p:sp>
      <p:sp>
        <p:nvSpPr>
          <p:cNvPr id="44" name="Text 42"/>
          <p:cNvSpPr/>
          <p:nvPr/>
        </p:nvSpPr>
        <p:spPr>
          <a:xfrm>
            <a:off x="7388352" y="320040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8.06–8.47%</a:t>
            </a:r>
            <a:endParaRPr lang="en-US" sz="1130" dirty="0"/>
          </a:p>
        </p:txBody>
      </p:sp>
      <p:sp>
        <p:nvSpPr>
          <p:cNvPr id="45" name="Text 43"/>
          <p:cNvSpPr/>
          <p:nvPr/>
        </p:nvSpPr>
        <p:spPr>
          <a:xfrm>
            <a:off x="8421624" y="320040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12–14%</a:t>
            </a:r>
            <a:endParaRPr lang="en-US" sz="1130" dirty="0"/>
          </a:p>
        </p:txBody>
      </p:sp>
      <p:sp>
        <p:nvSpPr>
          <p:cNvPr id="46" name="Text 44"/>
          <p:cNvSpPr/>
          <p:nvPr/>
        </p:nvSpPr>
        <p:spPr>
          <a:xfrm>
            <a:off x="9454896" y="320040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0.65–0.69</a:t>
            </a:r>
            <a:endParaRPr lang="en-US" sz="1130" dirty="0"/>
          </a:p>
        </p:txBody>
      </p:sp>
      <p:sp>
        <p:nvSpPr>
          <p:cNvPr id="47" name="Text 45"/>
          <p:cNvSpPr/>
          <p:nvPr/>
        </p:nvSpPr>
        <p:spPr>
          <a:xfrm>
            <a:off x="10488168" y="3200400"/>
            <a:ext cx="1033272" cy="502920"/>
          </a:xfrm>
          <a:prstGeom prst="rect">
            <a:avLst/>
          </a:prstGeom>
          <a:solidFill>
            <a:srgbClr val="EEF2F6"/>
          </a:solidFill>
          <a:ln w="7620">
            <a:solidFill>
              <a:srgbClr val="F7F8F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−26.66%</a:t>
            </a:r>
            <a:endParaRPr lang="en-US" sz="1130" dirty="0"/>
          </a:p>
        </p:txBody>
      </p:sp>
      <p:sp>
        <p:nvSpPr>
          <p:cNvPr id="48" name="Text 46"/>
          <p:cNvSpPr/>
          <p:nvPr/>
        </p:nvSpPr>
        <p:spPr>
          <a:xfrm>
            <a:off x="777240" y="4251960"/>
            <a:ext cx="103327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S&amp;P: the index dominates the momentum strategies in this sample. </a:t>
            </a:r>
          </a:p>
          <a:p>
            <a:pPr marL="0" indent="0">
              <a:buNone/>
            </a:pPr>
            <a:r>
              <a:rPr lang="en-US" sz="156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Europe: volatility-targeted momentum is economically stronger than the STOXX index.</a:t>
            </a:r>
            <a:endParaRPr lang="en-US" sz="1560" dirty="0"/>
          </a:p>
        </p:txBody>
      </p:sp>
      <p:sp>
        <p:nvSpPr>
          <p:cNvPr id="49" name="Text 47"/>
          <p:cNvSpPr/>
          <p:nvPr/>
        </p:nvSpPr>
        <p:spPr>
          <a:xfrm>
            <a:off x="777240" y="5074920"/>
            <a:ext cx="10332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4F5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strategy is therefore not universally attractive; its usefulness is market- and sample-dependent.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8DEE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87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29260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DA3"/>
                </a:solidFill>
              </a:rPr>
              <a:t>TAKEAWAYS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548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limitations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F6D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320040" cy="32004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</a:rPr>
              <a:t>Volatility targeting substantially improves the risk profile of momentum.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4F5B66"/>
                </a:solidFill>
              </a:rPr>
              <a:t>Lower volatility, shallower drawdowns and better compounding.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77240" y="2496312"/>
            <a:ext cx="320040" cy="32004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780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</a:rPr>
              <a:t>The main crash mechanism is loser rebound.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4F5B66"/>
                </a:solidFill>
              </a:rPr>
              <a:t>Past losers can rally violently, hurting the short leg.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777240" y="3364992"/>
            <a:ext cx="320040" cy="32004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34670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</a:rPr>
              <a:t>Leverage is the main extra danger.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4F5B66"/>
                </a:solidFill>
              </a:rPr>
              <a:t>When past volatility is low, Standard VT may enter a crash overexposed.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77240" y="4233672"/>
            <a:ext cx="320040" cy="320040"/>
          </a:xfrm>
          <a:prstGeom prst="rect">
            <a:avLst/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153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24F"/>
                </a:solidFill>
              </a:rPr>
              <a:t>No-Leverage is more defensive.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34440" y="45262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4F5B66"/>
                </a:solidFill>
              </a:rPr>
              <a:t>It removes the amplification mechanism, but gives up some upside exposure.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8275320" y="1188720"/>
            <a:ext cx="1920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57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1600200"/>
            <a:ext cx="310896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Results are historical and sample-specific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Costs are simplified and exclude borrow fees, market impact and taxes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Volatility forecasts are backward-looking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Factor-adjusted alpha is not the focus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532120"/>
            <a:ext cx="10607040" cy="0"/>
          </a:xfrm>
          <a:prstGeom prst="line">
            <a:avLst/>
          </a:prstGeom>
          <a:noFill/>
          <a:ln w="12700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77240" y="57150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DA3"/>
                </a:solidFill>
              </a:rPr>
              <a:t>Final message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5641848"/>
            <a:ext cx="8686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 is valuable mainly as risk management — but its design matters. Risk scaling without additional leverage is more consistent with crash protection.</a:t>
            </a:r>
            <a:endParaRPr lang="en-US" sz="14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1414</Words>
  <Application>Microsoft Office PowerPoint</Application>
  <PresentationFormat>Widescreen</PresentationFormat>
  <Paragraphs>319</Paragraphs>
  <Slides>13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Momentum Crashes and Volatility Targeting</dc:title>
  <dc:subject>Financial Markets Analytics project presentation</dc:subject>
  <dc:creator>OpenAI</dc:creator>
  <cp:lastModifiedBy>d.caramia@campus.unimib.it</cp:lastModifiedBy>
  <cp:revision>4</cp:revision>
  <dcterms:created xsi:type="dcterms:W3CDTF">2026-09-17T16:45:55Z</dcterms:created>
  <dcterms:modified xsi:type="dcterms:W3CDTF">2026-09-21T15:28:07Z</dcterms:modified>
</cp:coreProperties>
</file>